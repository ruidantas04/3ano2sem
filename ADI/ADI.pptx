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79" r:id="rId7"/>
    <p:sldId id="28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6858000" cy="9144000"/>
  <p:embeddedFontLs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Raleway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43" autoAdjust="0"/>
  </p:normalViewPr>
  <p:slideViewPr>
    <p:cSldViewPr snapToGrid="0">
      <p:cViewPr varScale="1">
        <p:scale>
          <a:sx n="107" d="100"/>
          <a:sy n="107" d="100"/>
        </p:scale>
        <p:origin x="7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08e7fb1d_4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08e7fb1d_4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008e7fb1d_4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008e7fb1d_4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008e7fb1d_4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008e7fb1d_4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008e7fb1d_4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008e7fb1d_4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008e7fb1d_4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008e7fb1d_4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008e7fb1d_4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008e7fb1d_4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008e7fb1d_4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008e7fb1d_4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008e7fb1d_4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008e7fb1d_4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008e7fb1d_4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008e7fb1d_4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008e7fb1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008e7fb1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008e7fb1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6008e7fb1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008e7fb1d_4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008e7fb1d_4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008e7fb1d_4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008e7fb1d_4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008e7fb1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008e7fb1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008e7fb1d_4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008e7fb1d_4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008e7fb1d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6008e7fb1d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008e7fb1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008e7fb1d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008e7fb1d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008e7fb1d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008e7fb1d_4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6008e7fb1d_4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008e7fb1d_4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008e7fb1d_4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008e7fb1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008e7fb1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6919800" cy="15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/>
              <a:t>Aprendizagem e Decisões Inteligentes - 2024/2025</a:t>
            </a:r>
            <a:endParaRPr sz="300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5" y="3172900"/>
            <a:ext cx="7869600" cy="13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 dirty="0"/>
              <a:t>Rodrigo Dantas – a104009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 dirty="0"/>
              <a:t>Rui Dantas – a104008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 dirty="0"/>
              <a:t>Tomás Ogando – a93174</a:t>
            </a: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6125" y="3649925"/>
            <a:ext cx="1282475" cy="116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27650" y="59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Metodologia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727650" y="1502875"/>
            <a:ext cx="7688700" cy="31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Para o nosso projeto usamos o modelo CRISP-DM está dividido em seis fases principais, que podem ser percorridas de forma iterativa e não necessariamente linear, sendo elas: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- Compreensão do Negócio (Business Understanding)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- Compreensão dos Dados (Data Understanding)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- Preparação dos Dados (Data Preparation)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- Modelação (Modeling)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- Avaliação (Evaluation)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- Implementação (Deployment) - Não abordada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1550" y="1975350"/>
            <a:ext cx="3354800" cy="256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727650" y="5554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Dataset Atribuído - Loan Workflow </a:t>
            </a: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729450" y="1425600"/>
            <a:ext cx="7688700" cy="29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O objetivo principal desta tarefa é prever a probabilidade de aprovação de um pedido de empréstimo com base no perfil financeiro e pessoal do requerente.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dirty="0"/>
              <a:t>O dataset contém diversas variáveis relacionadas com pedidos de empréstimos, como informações pessoais dos indivíduos, características do empréstimo, e o estado final do empréstimo. 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727650" y="5554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Loan Workflow - Business Understanding</a:t>
            </a:r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1"/>
          </p:nvPr>
        </p:nvSpPr>
        <p:spPr>
          <a:xfrm>
            <a:off x="729450" y="1425600"/>
            <a:ext cx="7688700" cy="29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O target é </a:t>
            </a:r>
            <a:r>
              <a:rPr lang="pt-PT" dirty="0" err="1"/>
              <a:t>loan_status</a:t>
            </a:r>
            <a:r>
              <a:rPr lang="pt-PT" dirty="0"/>
              <a:t>, que assume três categorias possíveis: Aprovado, Pendente e Rejeitado.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dirty="0"/>
              <a:t>A previsão é baseada em fatores que se dividem em três grandes grupos: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dirty="0"/>
              <a:t>- Dados Pessoais: idade, género, escolaridade, histórico de crédito;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dirty="0"/>
              <a:t>- Situação Financeira: rendimento anual, anos de experiência profissional, tipo de posse da habitação;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dirty="0"/>
              <a:t>- Detalhes do Empréstimo: montante solicitado, taxa de juro e finalidade do empréstimo.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727650" y="5554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Loan</a:t>
            </a:r>
            <a:r>
              <a:rPr lang="pt-PT" dirty="0"/>
              <a:t> </a:t>
            </a:r>
            <a:r>
              <a:rPr lang="pt-PT" dirty="0" err="1"/>
              <a:t>Workflow</a:t>
            </a:r>
            <a:r>
              <a:rPr lang="pt-PT" dirty="0"/>
              <a:t> - Data </a:t>
            </a:r>
            <a:r>
              <a:rPr lang="pt-PT" dirty="0" err="1"/>
              <a:t>Understanding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body" idx="1"/>
          </p:nvPr>
        </p:nvSpPr>
        <p:spPr>
          <a:xfrm>
            <a:off x="729450" y="1425600"/>
            <a:ext cx="7688700" cy="29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Nesta fase inicial do projeto, realizamos uma exploração do dataset de treino com o objetivo de compreender a estrutura, identificar padrões e preparar os dados para as etapas seguintes de pré-processamento e modelação.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879D4-8078-8BD4-CD6A-5AFBF426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618563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pt-PT" dirty="0" err="1"/>
              <a:t>Loan</a:t>
            </a:r>
            <a:r>
              <a:rPr lang="pt-PT" dirty="0"/>
              <a:t> </a:t>
            </a:r>
            <a:r>
              <a:rPr lang="pt-PT" dirty="0" err="1"/>
              <a:t>Workflow</a:t>
            </a:r>
            <a:r>
              <a:rPr lang="pt-PT" dirty="0"/>
              <a:t> - Data </a:t>
            </a:r>
            <a:r>
              <a:rPr lang="pt-PT" dirty="0" err="1"/>
              <a:t>Understanding</a:t>
            </a: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B15E539-B878-FC7C-7173-5C697BA7C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156" y="1441200"/>
            <a:ext cx="7688700" cy="2261100"/>
          </a:xfrm>
        </p:spPr>
        <p:txBody>
          <a:bodyPr/>
          <a:lstStyle/>
          <a:p>
            <a:r>
              <a:rPr lang="pt-PT" dirty="0"/>
              <a:t>A maior parte dos empréstimos situa-se entre 5.000 e 12.000, um padrão comum de necessidade financeira.</a:t>
            </a:r>
          </a:p>
          <a:p>
            <a:endParaRPr lang="pt-PT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A73B0C4-D11F-4008-47B8-2DC164DEA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595" y="2078875"/>
            <a:ext cx="2504809" cy="269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1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F0C89-2624-B6B2-7921-4B5D3F0A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597132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pt-PT" dirty="0" err="1"/>
              <a:t>Loan</a:t>
            </a:r>
            <a:r>
              <a:rPr lang="pt-PT" dirty="0"/>
              <a:t> </a:t>
            </a:r>
            <a:r>
              <a:rPr lang="pt-PT" dirty="0" err="1"/>
              <a:t>Workflow</a:t>
            </a:r>
            <a:r>
              <a:rPr lang="pt-PT" dirty="0"/>
              <a:t> - Data </a:t>
            </a:r>
            <a:r>
              <a:rPr lang="pt-PT" dirty="0" err="1"/>
              <a:t>Understanding</a:t>
            </a: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3CF2404-77AF-E4FB-3B4B-60B2DAFBA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650" y="1441200"/>
            <a:ext cx="7688700" cy="2261100"/>
          </a:xfrm>
        </p:spPr>
        <p:txBody>
          <a:bodyPr/>
          <a:lstStyle/>
          <a:p>
            <a:r>
              <a:rPr lang="pt-PT" dirty="0"/>
              <a:t>Quanto ao </a:t>
            </a:r>
            <a:r>
              <a:rPr lang="pt-PT" dirty="0" err="1"/>
              <a:t>person_income</a:t>
            </a:r>
            <a:r>
              <a:rPr lang="pt-PT" dirty="0"/>
              <a:t> do requerente , podemos retirar do box </a:t>
            </a:r>
            <a:r>
              <a:rPr lang="pt-PT" dirty="0" err="1"/>
              <a:t>plot</a:t>
            </a:r>
            <a:r>
              <a:rPr lang="pt-PT" dirty="0"/>
              <a:t> , que a maioria está entre 46000 e 95000, e a presença de alguns </a:t>
            </a:r>
            <a:r>
              <a:rPr lang="pt-PT" dirty="0" err="1"/>
              <a:t>outliers</a:t>
            </a:r>
            <a:r>
              <a:rPr lang="pt-PT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EAF6C00-E856-B158-72C0-DDE640D0D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981" y="2257926"/>
            <a:ext cx="2395232" cy="264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581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727650" y="5554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Loan Workflow - Data Preparation</a:t>
            </a:r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1"/>
          </p:nvPr>
        </p:nvSpPr>
        <p:spPr>
          <a:xfrm>
            <a:off x="729450" y="1425600"/>
            <a:ext cx="7688700" cy="29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A fase de preparação dos dados foi crucial para garantir a consistência, integridade e utilidade do conjunto de dados e nesse sentido realizamos um conjunto de operações de limpeza, verificação e normalização.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 b="1" dirty="0"/>
              <a:t>Tarefas elaboradas:</a:t>
            </a:r>
            <a:br>
              <a:rPr lang="pt-PT" dirty="0"/>
            </a:br>
            <a:r>
              <a:rPr lang="pt-PT" dirty="0"/>
              <a:t>- </a:t>
            </a:r>
            <a:r>
              <a:rPr lang="pt-PT" b="1" dirty="0"/>
              <a:t>Tratamento de Idades</a:t>
            </a:r>
            <a:br>
              <a:rPr lang="pt-PT" dirty="0"/>
            </a:br>
            <a:r>
              <a:rPr lang="pt-PT" dirty="0"/>
              <a:t>- </a:t>
            </a:r>
            <a:r>
              <a:rPr lang="pt-PT" b="1" dirty="0"/>
              <a:t>Conversão de Variáveis Categóricas</a:t>
            </a:r>
            <a:br>
              <a:rPr lang="pt-PT" dirty="0"/>
            </a:br>
            <a:r>
              <a:rPr lang="pt-PT" dirty="0"/>
              <a:t>- </a:t>
            </a:r>
            <a:r>
              <a:rPr lang="pt-PT" b="1" dirty="0"/>
              <a:t>Verificação e Correção de Datas</a:t>
            </a:r>
            <a:br>
              <a:rPr lang="pt-PT" dirty="0"/>
            </a:br>
            <a:r>
              <a:rPr lang="pt-PT" dirty="0"/>
              <a:t>- </a:t>
            </a:r>
            <a:r>
              <a:rPr lang="pt-PT" b="1" dirty="0"/>
              <a:t>Limpeza de Colunas Irrelevantes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798900" y="4971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Loan Workflow - Data Preparation</a:t>
            </a:r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729450" y="1425600"/>
            <a:ext cx="3701400" cy="29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/>
              <a:t>Tratamento de Idades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dirty="0"/>
              <a:t>Identificamos que, por critérios legais, não é permitido conceder empréstimos a pessoas com mais de 70 anos. Assim, foram removidos do dataset todos os registros que apresentavam idades superiores a esse limite.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4825075" y="1425600"/>
            <a:ext cx="3701400" cy="29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5565" b="1" dirty="0"/>
              <a:t>Conversão de Variáveis Categóricas</a:t>
            </a:r>
            <a:endParaRPr sz="5565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5200" dirty="0"/>
              <a:t>Para que os algoritmos pudessem interpretar variáveis categóricas, aplicou-se Rule Engine às seguintes colunas:</a:t>
            </a:r>
            <a:endParaRPr sz="5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pt-PT" sz="5200" dirty="0"/>
            </a:br>
            <a:r>
              <a:rPr lang="pt-PT" sz="5200" dirty="0"/>
              <a:t>- </a:t>
            </a:r>
            <a:r>
              <a:rPr lang="pt-PT" sz="5200" dirty="0" err="1"/>
              <a:t>person_gender</a:t>
            </a:r>
            <a:r>
              <a:rPr lang="pt-PT" sz="5200" dirty="0"/>
              <a:t> (gênero),</a:t>
            </a:r>
            <a:br>
              <a:rPr lang="pt-PT" sz="5200" dirty="0"/>
            </a:br>
            <a:r>
              <a:rPr lang="pt-PT" sz="5200" dirty="0"/>
              <a:t>- </a:t>
            </a:r>
            <a:r>
              <a:rPr lang="pt-PT" sz="5200" dirty="0" err="1"/>
              <a:t>person_education</a:t>
            </a:r>
            <a:r>
              <a:rPr lang="pt-PT" sz="5200" dirty="0"/>
              <a:t> (nível de educação),</a:t>
            </a:r>
            <a:br>
              <a:rPr lang="pt-PT" sz="5200" dirty="0"/>
            </a:br>
            <a:r>
              <a:rPr lang="pt-PT" sz="5200" dirty="0"/>
              <a:t>- </a:t>
            </a:r>
            <a:r>
              <a:rPr lang="pt-PT" sz="5200" dirty="0" err="1"/>
              <a:t>person_home_ownership</a:t>
            </a:r>
            <a:r>
              <a:rPr lang="pt-PT" sz="5200" dirty="0"/>
              <a:t> (tipo de posse da residência),</a:t>
            </a:r>
            <a:br>
              <a:rPr lang="pt-PT" sz="5200" dirty="0"/>
            </a:br>
            <a:r>
              <a:rPr lang="pt-PT" sz="5200" dirty="0"/>
              <a:t>- </a:t>
            </a:r>
            <a:r>
              <a:rPr lang="pt-PT" sz="5200" dirty="0" err="1"/>
              <a:t>loan_intent</a:t>
            </a:r>
            <a:r>
              <a:rPr lang="pt-PT" sz="5200" dirty="0"/>
              <a:t> (razão do empréstimo).</a:t>
            </a:r>
            <a:endParaRPr sz="5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cxnSp>
        <p:nvCxnSpPr>
          <p:cNvPr id="127" name="Google Shape;127;p19"/>
          <p:cNvCxnSpPr/>
          <p:nvPr/>
        </p:nvCxnSpPr>
        <p:spPr>
          <a:xfrm>
            <a:off x="4489225" y="1308550"/>
            <a:ext cx="6600" cy="3161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title"/>
          </p:nvPr>
        </p:nvSpPr>
        <p:spPr>
          <a:xfrm>
            <a:off x="798900" y="4971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Loan Workflow - Data Preparation</a:t>
            </a:r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body" idx="1"/>
          </p:nvPr>
        </p:nvSpPr>
        <p:spPr>
          <a:xfrm>
            <a:off x="729450" y="1425600"/>
            <a:ext cx="3701400" cy="29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/>
              <a:t>Verificação e Correção de Datas</a:t>
            </a:r>
            <a:br>
              <a:rPr lang="pt-PT" dirty="0"/>
            </a:br>
            <a:r>
              <a:rPr lang="pt-PT" dirty="0"/>
              <a:t>Identificaram-se alguns registos com datas inválidas, como por exemplo dias inexistentes em determinados meses (ex.: 30 de fevereiro). Essas anomalias foram corrigidas e agora é possível afirmar a validade cronológica do dataset. Adicionalmente, utilizou-se um </a:t>
            </a:r>
            <a:r>
              <a:rPr lang="pt-PT" dirty="0" err="1"/>
              <a:t>extractor</a:t>
            </a:r>
            <a:r>
              <a:rPr lang="pt-PT" dirty="0"/>
              <a:t> de componentes temporais (como dia da semana, mês e ano) para avaliar a relevância das datas em relação à variável target.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34" name="Google Shape;134;p20"/>
          <p:cNvSpPr txBox="1">
            <a:spLocks noGrp="1"/>
          </p:cNvSpPr>
          <p:nvPr>
            <p:ph type="body" idx="1"/>
          </p:nvPr>
        </p:nvSpPr>
        <p:spPr>
          <a:xfrm>
            <a:off x="4825075" y="1425600"/>
            <a:ext cx="3701400" cy="29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/>
              <a:t>Limpeza de Colunas Irrelevantes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dirty="0"/>
              <a:t>Determinadas colunas presentes no dataset foram consideradas irrelevantes para o objetivo da análise ou redundantes após o tratamento de datas. Com isso, destacam-se algumas colunas, cuja irrelevância foi confirmada por meio do node “ </a:t>
            </a:r>
            <a:r>
              <a:rPr lang="pt-PT" dirty="0" err="1"/>
              <a:t>Rank</a:t>
            </a:r>
            <a:r>
              <a:rPr lang="pt-PT" dirty="0"/>
              <a:t> </a:t>
            </a:r>
            <a:r>
              <a:rPr lang="pt-PT" dirty="0" err="1"/>
              <a:t>Correlation</a:t>
            </a:r>
            <a:r>
              <a:rPr lang="pt-PT" dirty="0"/>
              <a:t>”.</a:t>
            </a:r>
            <a:br>
              <a:rPr lang="pt-PT" sz="1900" dirty="0"/>
            </a:b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cxnSp>
        <p:nvCxnSpPr>
          <p:cNvPr id="135" name="Google Shape;135;p20"/>
          <p:cNvCxnSpPr/>
          <p:nvPr/>
        </p:nvCxnSpPr>
        <p:spPr>
          <a:xfrm>
            <a:off x="4489225" y="1308550"/>
            <a:ext cx="6600" cy="3161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title"/>
          </p:nvPr>
        </p:nvSpPr>
        <p:spPr>
          <a:xfrm>
            <a:off x="798900" y="4971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Loan Workflow - Data Preparation</a:t>
            </a: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2CFA8DB-96A4-534C-6D02-52D046582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66" y="1338772"/>
            <a:ext cx="7516368" cy="24659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>
            <a:spLocks noGrp="1"/>
          </p:cNvSpPr>
          <p:nvPr>
            <p:ph type="title"/>
          </p:nvPr>
        </p:nvSpPr>
        <p:spPr>
          <a:xfrm>
            <a:off x="727650" y="5554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Loan Workflow - Data Preparation</a:t>
            </a:r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body" idx="1"/>
          </p:nvPr>
        </p:nvSpPr>
        <p:spPr>
          <a:xfrm>
            <a:off x="727650" y="1479875"/>
            <a:ext cx="5645100" cy="31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r>
              <a:rPr lang="pt-PT" sz="1100" dirty="0"/>
              <a:t>Para além do tratamento essencial e direto descrito anteriormente, implementámos uma abordagem mais flexível e modular para testar diferentes estratégias de preparação de dados. </a:t>
            </a:r>
          </a:p>
          <a:p>
            <a:pPr marL="146050" indent="0">
              <a:buNone/>
            </a:pPr>
            <a:r>
              <a:rPr lang="pt-PT" sz="1100" dirty="0"/>
              <a:t>A imagem ilustra alguns dos exemplos testados, entre os quais:</a:t>
            </a:r>
          </a:p>
          <a:p>
            <a:pPr>
              <a:buFont typeface="Arial" panose="020B0604020202020204" pitchFamily="34" charset="0"/>
              <a:buChar char="•"/>
            </a:pPr>
            <a:endParaRPr lang="pt-PT" sz="1100" b="1" dirty="0"/>
          </a:p>
          <a:p>
            <a:pPr marL="146050" indent="0">
              <a:buNone/>
            </a:pPr>
            <a:r>
              <a:rPr lang="pt-PT" sz="1100" b="1" dirty="0" err="1"/>
              <a:t>Default</a:t>
            </a:r>
            <a:r>
              <a:rPr lang="pt-PT" sz="1100" dirty="0"/>
              <a:t>: substituição de valores ausentes pela mediana das variáveis, tratamento de </a:t>
            </a:r>
            <a:r>
              <a:rPr lang="pt-PT" sz="1100" dirty="0" err="1"/>
              <a:t>outilers</a:t>
            </a:r>
            <a:r>
              <a:rPr lang="pt-PT" sz="1100" dirty="0"/>
              <a:t> não-extremos;</a:t>
            </a:r>
          </a:p>
          <a:p>
            <a:pPr marL="146050" indent="0">
              <a:buNone/>
            </a:pPr>
            <a:r>
              <a:rPr lang="pt-PT" sz="1100" b="1" dirty="0"/>
              <a:t>Média para Valores Ausentes</a:t>
            </a:r>
            <a:r>
              <a:rPr lang="pt-PT" sz="1100" dirty="0"/>
              <a:t>: substituição de valores ausentes pela média das variáveis;</a:t>
            </a:r>
          </a:p>
          <a:p>
            <a:pPr marL="146050" indent="0">
              <a:buNone/>
            </a:pPr>
            <a:r>
              <a:rPr lang="pt-PT" sz="1100" b="1" dirty="0" err="1"/>
              <a:t>Outliers</a:t>
            </a:r>
            <a:r>
              <a:rPr lang="pt-PT" sz="1100" b="1" dirty="0"/>
              <a:t> Não-Extremos Ignorados</a:t>
            </a:r>
            <a:r>
              <a:rPr lang="pt-PT" sz="1100" dirty="0"/>
              <a:t>: tratamento seletivo de </a:t>
            </a:r>
            <a:r>
              <a:rPr lang="pt-PT" sz="1100" dirty="0" err="1"/>
              <a:t>outliers</a:t>
            </a:r>
            <a:r>
              <a:rPr lang="pt-PT" sz="1100" dirty="0"/>
              <a:t>, mantendo os menos extremos.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757322-97A8-753D-2484-AD2BE5970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306" y="2154473"/>
            <a:ext cx="2731300" cy="12368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727650" y="5593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Loan Workflow - Modeling</a:t>
            </a:r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body" idx="1"/>
          </p:nvPr>
        </p:nvSpPr>
        <p:spPr>
          <a:xfrm>
            <a:off x="935549" y="1790375"/>
            <a:ext cx="7208325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PT" b="1" dirty="0"/>
              <a:t>A fase de modelação</a:t>
            </a:r>
            <a:r>
              <a:rPr lang="pt-PT" dirty="0"/>
              <a:t> consistiu na aplicação de diferentes abordagens para treinar, validar e testar modelos preditivos com base no conjunto de dados preparado. Para uma análise mais estruturada e completa, esta etapa foi dividida em cinco áreas distintas: divisão treino-teste, particionamento, validação cruzada, aplicação de técnicas de </a:t>
            </a:r>
            <a:r>
              <a:rPr lang="pt-PT" dirty="0" err="1"/>
              <a:t>oversampling</a:t>
            </a:r>
            <a:r>
              <a:rPr lang="pt-PT" dirty="0"/>
              <a:t> com o node SMOTE(apontamento do checkpoint) e segmentação via </a:t>
            </a:r>
            <a:r>
              <a:rPr lang="pt-PT" dirty="0" err="1"/>
              <a:t>clustering</a:t>
            </a:r>
            <a:r>
              <a:rPr lang="pt-PT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>
            <a:off x="727650" y="5774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Loan Workflow - Modeling</a:t>
            </a:r>
            <a:endParaRPr/>
          </a:p>
        </p:txBody>
      </p:sp>
      <p:sp>
        <p:nvSpPr>
          <p:cNvPr id="161" name="Google Shape;161;p24"/>
          <p:cNvSpPr txBox="1">
            <a:spLocks noGrp="1"/>
          </p:cNvSpPr>
          <p:nvPr>
            <p:ph type="body" idx="1"/>
          </p:nvPr>
        </p:nvSpPr>
        <p:spPr>
          <a:xfrm>
            <a:off x="275675" y="1482275"/>
            <a:ext cx="2230200" cy="32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 err="1"/>
              <a:t>Train-Test</a:t>
            </a:r>
            <a:r>
              <a:rPr lang="pt-PT" b="1" dirty="0"/>
              <a:t> ,</a:t>
            </a:r>
            <a:r>
              <a:rPr lang="pt-PT" b="1" dirty="0" err="1"/>
              <a:t>Partitioning</a:t>
            </a:r>
            <a:r>
              <a:rPr lang="pt-PT" b="1" dirty="0"/>
              <a:t> </a:t>
            </a:r>
            <a:endParaRPr b="1" dirty="0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Decision</a:t>
            </a:r>
            <a:r>
              <a:rPr lang="pt-PT" dirty="0"/>
              <a:t> </a:t>
            </a:r>
            <a:r>
              <a:rPr lang="pt-PT" dirty="0" err="1"/>
              <a:t>Tree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XGBoost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XGBoost</a:t>
            </a:r>
            <a:r>
              <a:rPr lang="pt-PT" dirty="0"/>
              <a:t> </a:t>
            </a:r>
            <a:r>
              <a:rPr lang="pt-PT" dirty="0" err="1"/>
              <a:t>Tree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Gradient</a:t>
            </a:r>
            <a:r>
              <a:rPr lang="pt-PT" dirty="0"/>
              <a:t> </a:t>
            </a:r>
            <a:r>
              <a:rPr lang="pt-PT" dirty="0" err="1"/>
              <a:t>Boosted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Random</a:t>
            </a:r>
            <a:r>
              <a:rPr lang="pt-PT" dirty="0"/>
              <a:t> </a:t>
            </a:r>
            <a:r>
              <a:rPr lang="pt-PT" dirty="0" err="1"/>
              <a:t>Forest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Tree</a:t>
            </a:r>
            <a:r>
              <a:rPr lang="pt-PT" dirty="0"/>
              <a:t> Ensemble</a:t>
            </a:r>
            <a:endParaRPr dirty="0"/>
          </a:p>
        </p:txBody>
      </p:sp>
      <p:cxnSp>
        <p:nvCxnSpPr>
          <p:cNvPr id="162" name="Google Shape;162;p24"/>
          <p:cNvCxnSpPr/>
          <p:nvPr/>
        </p:nvCxnSpPr>
        <p:spPr>
          <a:xfrm>
            <a:off x="2445000" y="1543600"/>
            <a:ext cx="6600" cy="3161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" name="Google Shape;163;p24"/>
          <p:cNvSpPr txBox="1">
            <a:spLocks noGrp="1"/>
          </p:cNvSpPr>
          <p:nvPr>
            <p:ph type="body" idx="1"/>
          </p:nvPr>
        </p:nvSpPr>
        <p:spPr>
          <a:xfrm>
            <a:off x="2725602" y="1482275"/>
            <a:ext cx="1956300" cy="32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/>
              <a:t>Cross-</a:t>
            </a:r>
            <a:r>
              <a:rPr lang="pt-PT" b="1" dirty="0" err="1"/>
              <a:t>Validation</a:t>
            </a:r>
            <a:endParaRPr b="1" dirty="0"/>
          </a:p>
          <a:p>
            <a:pPr>
              <a:spcBef>
                <a:spcPts val="1200"/>
              </a:spcBef>
            </a:pPr>
            <a:r>
              <a:rPr lang="pt-PT" dirty="0" err="1"/>
              <a:t>Decision</a:t>
            </a:r>
            <a:r>
              <a:rPr lang="pt-PT" dirty="0"/>
              <a:t> </a:t>
            </a:r>
            <a:r>
              <a:rPr lang="pt-PT" dirty="0" err="1"/>
              <a:t>Tree</a:t>
            </a:r>
            <a:endParaRPr lang="pt-PT" dirty="0"/>
          </a:p>
          <a:p>
            <a:pPr>
              <a:spcBef>
                <a:spcPts val="1200"/>
              </a:spcBef>
            </a:pPr>
            <a:r>
              <a:rPr lang="pt-PT" dirty="0" err="1"/>
              <a:t>Gradient</a:t>
            </a:r>
            <a:r>
              <a:rPr lang="pt-PT" dirty="0"/>
              <a:t> </a:t>
            </a:r>
            <a:r>
              <a:rPr lang="pt-PT" dirty="0" err="1"/>
              <a:t>Boosted</a:t>
            </a:r>
            <a:r>
              <a:rPr lang="pt-PT" dirty="0"/>
              <a:t> </a:t>
            </a:r>
            <a:r>
              <a:rPr lang="pt-PT" dirty="0" err="1"/>
              <a:t>Tree</a:t>
            </a:r>
            <a:r>
              <a:rPr lang="pt-PT" b="1" dirty="0"/>
              <a:t> </a:t>
            </a:r>
            <a:endParaRPr b="1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Random</a:t>
            </a:r>
            <a:r>
              <a:rPr lang="pt-PT" dirty="0"/>
              <a:t> </a:t>
            </a:r>
            <a:r>
              <a:rPr lang="pt-PT" dirty="0" err="1"/>
              <a:t>Forest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Tree</a:t>
            </a:r>
            <a:r>
              <a:rPr lang="pt-PT" dirty="0"/>
              <a:t> Ensemble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XGBoost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XGBoost</a:t>
            </a:r>
            <a:r>
              <a:rPr lang="pt-PT" dirty="0"/>
              <a:t> </a:t>
            </a:r>
            <a:r>
              <a:rPr lang="pt-PT" dirty="0" err="1"/>
              <a:t>Tree</a:t>
            </a:r>
            <a:endParaRPr dirty="0"/>
          </a:p>
        </p:txBody>
      </p:sp>
      <p:cxnSp>
        <p:nvCxnSpPr>
          <p:cNvPr id="164" name="Google Shape;164;p24"/>
          <p:cNvCxnSpPr/>
          <p:nvPr/>
        </p:nvCxnSpPr>
        <p:spPr>
          <a:xfrm>
            <a:off x="5422800" y="1543600"/>
            <a:ext cx="6600" cy="3161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" name="Google Shape;167;p24"/>
          <p:cNvSpPr txBox="1">
            <a:spLocks noGrp="1"/>
          </p:cNvSpPr>
          <p:nvPr>
            <p:ph type="body" idx="1"/>
          </p:nvPr>
        </p:nvSpPr>
        <p:spPr>
          <a:xfrm>
            <a:off x="5906512" y="1513000"/>
            <a:ext cx="1491600" cy="32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 err="1"/>
              <a:t>Clustering</a:t>
            </a:r>
            <a:endParaRPr b="1" dirty="0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 dirty="0"/>
              <a:t>K-</a:t>
            </a:r>
            <a:r>
              <a:rPr lang="pt-PT" dirty="0" err="1"/>
              <a:t>Means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>
            <a:spLocks noGrp="1"/>
          </p:cNvSpPr>
          <p:nvPr>
            <p:ph type="title"/>
          </p:nvPr>
        </p:nvSpPr>
        <p:spPr>
          <a:xfrm>
            <a:off x="727650" y="5554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Loan Workflow - Evaluation</a:t>
            </a:r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body" idx="1"/>
          </p:nvPr>
        </p:nvSpPr>
        <p:spPr>
          <a:xfrm>
            <a:off x="729450" y="1425600"/>
            <a:ext cx="7688700" cy="29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PT" sz="1400" dirty="0"/>
              <a:t>Com base nos testes realizados, o modelo </a:t>
            </a:r>
            <a:r>
              <a:rPr lang="pt-PT" sz="1400" b="1" dirty="0" err="1"/>
              <a:t>Decision</a:t>
            </a:r>
            <a:r>
              <a:rPr lang="pt-PT" sz="1400" b="1" dirty="0"/>
              <a:t> </a:t>
            </a:r>
            <a:r>
              <a:rPr lang="pt-PT" sz="1400" b="1" dirty="0" err="1"/>
              <a:t>Tree</a:t>
            </a:r>
            <a:r>
              <a:rPr lang="pt-PT" sz="1400" dirty="0"/>
              <a:t> demonstrou o melhor desempenho, com uma </a:t>
            </a:r>
            <a:r>
              <a:rPr lang="pt-PT" sz="1400" i="1" dirty="0" err="1"/>
              <a:t>accuracy</a:t>
            </a:r>
            <a:r>
              <a:rPr lang="pt-PT" sz="1400" dirty="0"/>
              <a:t> máxima de </a:t>
            </a:r>
            <a:r>
              <a:rPr lang="pt-PT" sz="1400" b="1" dirty="0"/>
              <a:t>62,09%</a:t>
            </a:r>
            <a:r>
              <a:rPr lang="pt-PT" sz="1400" dirty="0"/>
              <a:t>. O desempenho consistente do </a:t>
            </a:r>
            <a:r>
              <a:rPr lang="pt-PT" sz="1400" b="1" dirty="0" err="1"/>
              <a:t>Random</a:t>
            </a:r>
            <a:r>
              <a:rPr lang="pt-PT" sz="1400" b="1" dirty="0"/>
              <a:t> </a:t>
            </a:r>
            <a:r>
              <a:rPr lang="pt-PT" sz="1400" b="1" dirty="0" err="1"/>
              <a:t>Forest</a:t>
            </a:r>
            <a:r>
              <a:rPr lang="pt-PT" sz="1400" dirty="0"/>
              <a:t> destaca a robustez do mesmo para o problema em questão. Embora esta </a:t>
            </a:r>
            <a:r>
              <a:rPr lang="pt-PT" sz="1400" i="1" dirty="0" err="1"/>
              <a:t>accuracy</a:t>
            </a:r>
            <a:r>
              <a:rPr lang="pt-PT" sz="1400" dirty="0"/>
              <a:t> não represente um valor elevado, consideramos que esse resultado está condicionado por limitações inerentes à definição do target, conforme descrito abaixo, e que, mesmo assim, os modelos apresentaram comportamentos coerentes.</a:t>
            </a:r>
          </a:p>
          <a:p>
            <a:r>
              <a:rPr lang="pt-PT" sz="1400" dirty="0"/>
              <a:t>Na nossa opinião, essa limitação pode estar relacionada com a forma como o </a:t>
            </a:r>
            <a:r>
              <a:rPr lang="pt-PT" sz="1400" i="1" dirty="0"/>
              <a:t>target</a:t>
            </a:r>
            <a:r>
              <a:rPr lang="pt-PT" sz="1400" dirty="0"/>
              <a:t> foi definido no problema. A variável alvo possui três classes: </a:t>
            </a:r>
            <a:r>
              <a:rPr lang="pt-PT" sz="1400" i="1" dirty="0" err="1"/>
              <a:t>Approved</a:t>
            </a:r>
            <a:r>
              <a:rPr lang="pt-PT" sz="1400" dirty="0"/>
              <a:t>, </a:t>
            </a:r>
            <a:r>
              <a:rPr lang="pt-PT" sz="1400" i="1" dirty="0" err="1"/>
              <a:t>Rejected</a:t>
            </a:r>
            <a:r>
              <a:rPr lang="pt-PT" sz="1400" dirty="0"/>
              <a:t> e </a:t>
            </a:r>
            <a:r>
              <a:rPr lang="pt-PT" sz="1400" i="1" dirty="0" err="1"/>
              <a:t>Pending</a:t>
            </a:r>
            <a:r>
              <a:rPr lang="pt-PT" sz="1400" dirty="0"/>
              <a:t>. A classe </a:t>
            </a:r>
            <a:r>
              <a:rPr lang="pt-PT" sz="1400" i="1" dirty="0" err="1"/>
              <a:t>Pending</a:t>
            </a:r>
            <a:r>
              <a:rPr lang="pt-PT" sz="1400" dirty="0"/>
              <a:t>, no entanto, representa um estado transitório e indefinido — pode eventualmente tornar-se </a:t>
            </a:r>
            <a:r>
              <a:rPr lang="pt-PT" sz="1400" i="1" dirty="0" err="1"/>
              <a:t>Approved</a:t>
            </a:r>
            <a:r>
              <a:rPr lang="pt-PT" sz="1400" dirty="0"/>
              <a:t> ou </a:t>
            </a:r>
            <a:r>
              <a:rPr lang="pt-PT" sz="1400" i="1" dirty="0" err="1"/>
              <a:t>Rejected</a:t>
            </a:r>
            <a:r>
              <a:rPr lang="pt-PT" sz="1400" dirty="0"/>
              <a:t>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>
            <a:spLocks noGrp="1"/>
          </p:cNvSpPr>
          <p:nvPr>
            <p:ph type="title"/>
          </p:nvPr>
        </p:nvSpPr>
        <p:spPr>
          <a:xfrm>
            <a:off x="727650" y="59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Dataset Escolhido – </a:t>
            </a:r>
            <a:r>
              <a:rPr lang="pt-PT" dirty="0" err="1"/>
              <a:t>Energy</a:t>
            </a:r>
            <a:r>
              <a:rPr lang="pt-PT" dirty="0"/>
              <a:t> </a:t>
            </a:r>
            <a:r>
              <a:rPr lang="pt-PT" dirty="0" err="1"/>
              <a:t>Consumption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1"/>
          </p:nvPr>
        </p:nvSpPr>
        <p:spPr>
          <a:xfrm>
            <a:off x="729450" y="1360800"/>
            <a:ext cx="7688700" cy="29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PT" sz="1600" dirty="0"/>
              <a:t>Para esta tarefa, o grupo optou por trabalhar com um dataset sobre </a:t>
            </a:r>
            <a:r>
              <a:rPr lang="pt-PT" sz="1600" b="1" dirty="0"/>
              <a:t>consumo energético</a:t>
            </a:r>
            <a:r>
              <a:rPr lang="pt-PT" sz="1600" dirty="0"/>
              <a:t>, dada a relevância atual do tema em contextos ambientais, econômicos e políticos. A escolha visou aplicar técnicas de </a:t>
            </a:r>
            <a:r>
              <a:rPr lang="pt-PT" sz="1600" b="1" dirty="0"/>
              <a:t>regressão</a:t>
            </a:r>
            <a:r>
              <a:rPr lang="pt-PT" sz="1600" dirty="0"/>
              <a:t> e explorar padrões de consumo que possam apoiar soluções sustentáveis. Além disso, o dataset foi escolhido com o objetivo de </a:t>
            </a:r>
            <a:r>
              <a:rPr lang="pt-PT" sz="1600" b="1" dirty="0"/>
              <a:t>consolidar os conteúdos abordados na unidade curricular</a:t>
            </a:r>
            <a:r>
              <a:rPr lang="pt-PT" sz="1600" dirty="0"/>
              <a:t>, especialmente aqueles que </a:t>
            </a:r>
            <a:r>
              <a:rPr lang="pt-PT" sz="1600" b="1" dirty="0"/>
              <a:t>não foram aplicados no dataset anterior</a:t>
            </a:r>
            <a:r>
              <a:rPr lang="pt-PT" sz="16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>
            <a:spLocks noGrp="1"/>
          </p:cNvSpPr>
          <p:nvPr>
            <p:ph type="title"/>
          </p:nvPr>
        </p:nvSpPr>
        <p:spPr>
          <a:xfrm>
            <a:off x="727650" y="5554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Energy</a:t>
            </a:r>
            <a:r>
              <a:rPr lang="pt-PT" dirty="0"/>
              <a:t> </a:t>
            </a:r>
            <a:r>
              <a:rPr lang="pt-PT" dirty="0" err="1"/>
              <a:t>Workflow</a:t>
            </a:r>
            <a:r>
              <a:rPr lang="pt-PT" dirty="0"/>
              <a:t> - Business </a:t>
            </a:r>
            <a:r>
              <a:rPr lang="pt-PT" dirty="0" err="1"/>
              <a:t>Understanding</a:t>
            </a:r>
            <a:endParaRPr dirty="0"/>
          </a:p>
        </p:txBody>
      </p:sp>
      <p:sp>
        <p:nvSpPr>
          <p:cNvPr id="191" name="Google Shape;191;p28"/>
          <p:cNvSpPr txBox="1">
            <a:spLocks noGrp="1"/>
          </p:cNvSpPr>
          <p:nvPr>
            <p:ph type="body" idx="1"/>
          </p:nvPr>
        </p:nvSpPr>
        <p:spPr>
          <a:xfrm>
            <a:off x="729450" y="1425600"/>
            <a:ext cx="7688700" cy="29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buNone/>
            </a:pPr>
            <a:r>
              <a:rPr lang="pt-PT" dirty="0"/>
              <a:t>O </a:t>
            </a:r>
            <a:r>
              <a:rPr lang="pt-PT" i="1" dirty="0"/>
              <a:t>target</a:t>
            </a:r>
            <a:r>
              <a:rPr lang="pt-PT" dirty="0"/>
              <a:t> é a variável </a:t>
            </a:r>
            <a:r>
              <a:rPr lang="pt-PT" b="1" dirty="0" err="1"/>
              <a:t>EnergyConsumption</a:t>
            </a:r>
            <a:r>
              <a:rPr lang="pt-PT" dirty="0"/>
              <a:t>, um valor contínuo que representa o consumo total de energia (em kWh). </a:t>
            </a:r>
          </a:p>
          <a:p>
            <a:pPr marL="146050" indent="0">
              <a:buNone/>
            </a:pPr>
            <a:r>
              <a:rPr lang="pt-PT" dirty="0"/>
              <a:t>A previsão é baseada em diversos fatores que se agrupam em três categorias principais:</a:t>
            </a:r>
            <a:endParaRPr lang="pt-PT" b="1" dirty="0"/>
          </a:p>
          <a:p>
            <a:pPr marL="146050" indent="0">
              <a:buNone/>
            </a:pPr>
            <a:r>
              <a:rPr lang="pt-PT" b="1" dirty="0"/>
              <a:t>Condições Ambientais</a:t>
            </a:r>
            <a:r>
              <a:rPr lang="pt-PT" dirty="0"/>
              <a:t>: temperatura ambiente (</a:t>
            </a:r>
            <a:r>
              <a:rPr lang="pt-PT" i="1" dirty="0" err="1"/>
              <a:t>Temperature</a:t>
            </a:r>
            <a:r>
              <a:rPr lang="pt-PT" dirty="0"/>
              <a:t>), humidade relativa (</a:t>
            </a:r>
            <a:r>
              <a:rPr lang="pt-PT" i="1" dirty="0" err="1"/>
              <a:t>Humidity</a:t>
            </a:r>
            <a:r>
              <a:rPr lang="pt-PT" dirty="0"/>
              <a:t>);</a:t>
            </a:r>
          </a:p>
          <a:p>
            <a:pPr marL="146050" indent="0">
              <a:buNone/>
            </a:pPr>
            <a:r>
              <a:rPr lang="pt-PT" b="1" dirty="0"/>
              <a:t>Características Operacionais</a:t>
            </a:r>
            <a:r>
              <a:rPr lang="pt-PT" dirty="0"/>
              <a:t>: uso de HVAC (</a:t>
            </a:r>
            <a:r>
              <a:rPr lang="pt-PT" i="1" dirty="0" err="1"/>
              <a:t>HVACUsage</a:t>
            </a:r>
            <a:r>
              <a:rPr lang="pt-PT" dirty="0"/>
              <a:t>), uso de iluminação (</a:t>
            </a:r>
            <a:r>
              <a:rPr lang="pt-PT" i="1" dirty="0" err="1"/>
              <a:t>LightingUsage</a:t>
            </a:r>
            <a:r>
              <a:rPr lang="pt-PT" dirty="0"/>
              <a:t>), energia renovável gerada (</a:t>
            </a:r>
            <a:r>
              <a:rPr lang="pt-PT" i="1" dirty="0" err="1"/>
              <a:t>RenewableEnergy</a:t>
            </a:r>
            <a:r>
              <a:rPr lang="pt-PT" dirty="0"/>
              <a:t>), ocupação do espaço (</a:t>
            </a:r>
            <a:r>
              <a:rPr lang="pt-PT" i="1" dirty="0" err="1"/>
              <a:t>Occupancy</a:t>
            </a:r>
            <a:r>
              <a:rPr lang="pt-PT" dirty="0"/>
              <a:t>);</a:t>
            </a:r>
          </a:p>
          <a:p>
            <a:pPr marL="146050" indent="0">
              <a:buNone/>
            </a:pPr>
            <a:r>
              <a:rPr lang="pt-PT" b="1" dirty="0"/>
              <a:t>Informações Temporais</a:t>
            </a:r>
            <a:r>
              <a:rPr lang="pt-PT" dirty="0"/>
              <a:t>: dia da semana (</a:t>
            </a:r>
            <a:r>
              <a:rPr lang="pt-PT" i="1" dirty="0" err="1"/>
              <a:t>DayOfWeek</a:t>
            </a:r>
            <a:r>
              <a:rPr lang="pt-PT" dirty="0"/>
              <a:t>), presença de feriados (</a:t>
            </a:r>
            <a:r>
              <a:rPr lang="pt-PT" i="1" dirty="0" err="1"/>
              <a:t>Holiday</a:t>
            </a:r>
            <a:r>
              <a:rPr lang="pt-PT" dirty="0"/>
              <a:t>), e momento da medição (</a:t>
            </a:r>
            <a:r>
              <a:rPr lang="pt-PT" i="1" dirty="0" err="1"/>
              <a:t>Timestamp</a:t>
            </a:r>
            <a:r>
              <a:rPr lang="pt-PT" dirty="0"/>
              <a:t>).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>
            <a:spLocks noGrp="1"/>
          </p:cNvSpPr>
          <p:nvPr>
            <p:ph type="title"/>
          </p:nvPr>
        </p:nvSpPr>
        <p:spPr>
          <a:xfrm>
            <a:off x="727650" y="5554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Energy</a:t>
            </a:r>
            <a:r>
              <a:rPr lang="pt-PT" dirty="0"/>
              <a:t> </a:t>
            </a:r>
            <a:r>
              <a:rPr lang="pt-PT" dirty="0" err="1"/>
              <a:t>Workflow</a:t>
            </a:r>
            <a:r>
              <a:rPr lang="pt-PT" dirty="0"/>
              <a:t> - Data </a:t>
            </a:r>
            <a:r>
              <a:rPr lang="pt-PT" dirty="0" err="1"/>
              <a:t>Understanding</a:t>
            </a:r>
            <a:endParaRPr dirty="0"/>
          </a:p>
        </p:txBody>
      </p:sp>
      <p:sp>
        <p:nvSpPr>
          <p:cNvPr id="197" name="Google Shape;197;p29"/>
          <p:cNvSpPr txBox="1">
            <a:spLocks noGrp="1"/>
          </p:cNvSpPr>
          <p:nvPr>
            <p:ph type="body" idx="1"/>
          </p:nvPr>
        </p:nvSpPr>
        <p:spPr>
          <a:xfrm>
            <a:off x="729450" y="1425600"/>
            <a:ext cx="7688700" cy="29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46050" indent="0">
              <a:buNone/>
            </a:pPr>
            <a:r>
              <a:rPr lang="pt-PT" dirty="0"/>
              <a:t>O conjunto de dados inclui registos de consumo energético detalhados, com variáveis como temperatura, humidade e ocupação. O objetivo é prever o consumo total de energia (</a:t>
            </a:r>
            <a:r>
              <a:rPr lang="pt-PT" dirty="0" err="1"/>
              <a:t>EnergyConsumption</a:t>
            </a:r>
            <a:r>
              <a:rPr lang="pt-PT" dirty="0"/>
              <a:t>).</a:t>
            </a:r>
          </a:p>
          <a:p>
            <a:pPr marL="146050" indent="0">
              <a:buNone/>
            </a:pPr>
            <a:r>
              <a:rPr lang="pt-PT" dirty="0"/>
              <a:t>A análise inicial permitiu identificar alguns valores irrelevantes e iniciar a deteção de padrões relevantes.</a:t>
            </a:r>
          </a:p>
          <a:p>
            <a:pPr marL="146050" indent="0">
              <a:buNone/>
            </a:pPr>
            <a:endParaRPr lang="pt-PT" dirty="0"/>
          </a:p>
          <a:p>
            <a:pPr marL="146050" indent="0">
              <a:buNone/>
            </a:pPr>
            <a:r>
              <a:rPr lang="pt-PT" b="1" dirty="0"/>
              <a:t>Correlações e Padrões</a:t>
            </a:r>
            <a:br>
              <a:rPr lang="pt-PT" dirty="0"/>
            </a:br>
            <a:r>
              <a:rPr lang="pt-PT" dirty="0"/>
              <a:t>A matriz de correlação revelou associações relevantes entre o consumo energético e variáveis como </a:t>
            </a:r>
            <a:r>
              <a:rPr lang="pt-PT" i="1" dirty="0" err="1"/>
              <a:t>Temperature</a:t>
            </a:r>
            <a:r>
              <a:rPr lang="pt-PT" dirty="0"/>
              <a:t>, </a:t>
            </a:r>
            <a:r>
              <a:rPr lang="pt-PT" i="1" dirty="0" err="1"/>
              <a:t>Humidity</a:t>
            </a:r>
            <a:r>
              <a:rPr lang="pt-PT" dirty="0"/>
              <a:t>, </a:t>
            </a:r>
            <a:r>
              <a:rPr lang="pt-PT" i="1" dirty="0" err="1"/>
              <a:t>Occupancy</a:t>
            </a:r>
            <a:r>
              <a:rPr lang="pt-PT" dirty="0"/>
              <a:t> e </a:t>
            </a:r>
            <a:r>
              <a:rPr lang="pt-PT" i="1" dirty="0" err="1"/>
              <a:t>RenewableEnergy</a:t>
            </a:r>
            <a:r>
              <a:rPr lang="pt-PT" dirty="0"/>
              <a:t>. Por outro lado, variáveis como </a:t>
            </a:r>
            <a:r>
              <a:rPr lang="pt-PT" i="1" dirty="0" err="1"/>
              <a:t>HVACUsage</a:t>
            </a:r>
            <a:r>
              <a:rPr lang="pt-PT" dirty="0"/>
              <a:t>, </a:t>
            </a:r>
            <a:r>
              <a:rPr lang="pt-PT" i="1" dirty="0" err="1"/>
              <a:t>LightingUsage</a:t>
            </a:r>
            <a:r>
              <a:rPr lang="pt-PT" dirty="0"/>
              <a:t>, </a:t>
            </a:r>
            <a:r>
              <a:rPr lang="pt-PT" i="1" dirty="0" err="1"/>
              <a:t>DayOfWeek</a:t>
            </a:r>
            <a:r>
              <a:rPr lang="pt-PT" dirty="0"/>
              <a:t> e </a:t>
            </a:r>
            <a:r>
              <a:rPr lang="pt-PT" i="1" dirty="0" err="1"/>
              <a:t>Holiday</a:t>
            </a:r>
            <a:r>
              <a:rPr lang="pt-PT" dirty="0"/>
              <a:t> apresentaram baixa ou nula correlação com o target e foram, por isso, excluídas da modelação.</a:t>
            </a:r>
          </a:p>
          <a:p>
            <a:pPr marL="146050" indent="0">
              <a:buNone/>
            </a:pPr>
            <a:r>
              <a:rPr lang="pt-PT" b="1" dirty="0"/>
              <a:t>Análise de Variáveis Categóricas</a:t>
            </a:r>
            <a:br>
              <a:rPr lang="pt-PT" dirty="0"/>
            </a:br>
            <a:r>
              <a:rPr lang="pt-PT" dirty="0"/>
              <a:t>Gráficos circulares mostraram que o consumo tende a ser mais elevado em dias sem feriado (53,3%) e quando o sistema HVAC está ligado. Estas combinações refletem padrões de uso típicos em ambientes funcionais ou residenciais.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>
            <a:spLocks noGrp="1"/>
          </p:cNvSpPr>
          <p:nvPr>
            <p:ph type="title"/>
          </p:nvPr>
        </p:nvSpPr>
        <p:spPr>
          <a:xfrm>
            <a:off x="727650" y="5554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Energy</a:t>
            </a:r>
            <a:r>
              <a:rPr lang="pt-PT" dirty="0"/>
              <a:t> </a:t>
            </a:r>
            <a:r>
              <a:rPr lang="pt-PT" dirty="0" err="1"/>
              <a:t>Workflow</a:t>
            </a:r>
            <a:r>
              <a:rPr lang="pt-PT" dirty="0"/>
              <a:t> - Data </a:t>
            </a:r>
            <a:r>
              <a:rPr lang="pt-PT" dirty="0" err="1"/>
              <a:t>Preparation</a:t>
            </a:r>
            <a:endParaRPr dirty="0"/>
          </a:p>
        </p:txBody>
      </p:sp>
      <p:sp>
        <p:nvSpPr>
          <p:cNvPr id="203" name="Google Shape;203;p30"/>
          <p:cNvSpPr txBox="1">
            <a:spLocks noGrp="1"/>
          </p:cNvSpPr>
          <p:nvPr>
            <p:ph type="body" idx="1"/>
          </p:nvPr>
        </p:nvSpPr>
        <p:spPr>
          <a:xfrm>
            <a:off x="729450" y="1425600"/>
            <a:ext cx="7688700" cy="29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Neste dataset, devido à tipologia de dados não existiram tratamentos tão específicos como no anterior, contudo implementamos algumas operações à semelhança do que já foi dito para o dataset anterior.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dirty="0"/>
              <a:t>-Tratamento de valores ausentes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dirty="0"/>
              <a:t>-Conversão de </a:t>
            </a:r>
            <a:r>
              <a:rPr lang="pt-PT" dirty="0" err="1"/>
              <a:t>strings</a:t>
            </a:r>
            <a:r>
              <a:rPr lang="pt-PT" dirty="0"/>
              <a:t> para </a:t>
            </a:r>
            <a:r>
              <a:rPr lang="pt-PT" dirty="0" err="1"/>
              <a:t>Date&amp;Time</a:t>
            </a:r>
            <a:r>
              <a:rPr lang="pt-PT" dirty="0"/>
              <a:t> e Extração de partes da data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dirty="0"/>
              <a:t>-Tratamento de </a:t>
            </a:r>
            <a:r>
              <a:rPr lang="pt-PT" dirty="0" err="1"/>
              <a:t>outliers</a:t>
            </a:r>
            <a:endParaRPr lang="pt-PT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dirty="0"/>
              <a:t>-Conversão de variáveis categóricas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dirty="0"/>
              <a:t>-Análise de correlação (</a:t>
            </a:r>
            <a:r>
              <a:rPr lang="pt-PT" dirty="0" err="1"/>
              <a:t>Rank</a:t>
            </a:r>
            <a:r>
              <a:rPr lang="pt-PT" dirty="0"/>
              <a:t> </a:t>
            </a:r>
            <a:r>
              <a:rPr lang="pt-PT" dirty="0" err="1"/>
              <a:t>Correlation</a:t>
            </a:r>
            <a:r>
              <a:rPr lang="pt-PT" dirty="0"/>
              <a:t>)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dirty="0"/>
              <a:t>-Teste com e sem </a:t>
            </a:r>
            <a:r>
              <a:rPr lang="pt-PT" dirty="0" err="1"/>
              <a:t>Column</a:t>
            </a:r>
            <a:r>
              <a:rPr lang="pt-PT" dirty="0"/>
              <a:t> </a:t>
            </a:r>
            <a:r>
              <a:rPr lang="pt-PT" dirty="0" err="1"/>
              <a:t>Filter</a:t>
            </a:r>
            <a:endParaRPr lang="pt-PT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dirty="0"/>
              <a:t>-Normalização (apenas para redes neuronais)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>
            <a:spLocks noGrp="1"/>
          </p:cNvSpPr>
          <p:nvPr>
            <p:ph type="title"/>
          </p:nvPr>
        </p:nvSpPr>
        <p:spPr>
          <a:xfrm>
            <a:off x="727650" y="5593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Energy</a:t>
            </a:r>
            <a:r>
              <a:rPr lang="pt-PT" dirty="0"/>
              <a:t> </a:t>
            </a:r>
            <a:r>
              <a:rPr lang="pt-PT" dirty="0" err="1"/>
              <a:t>Workflow</a:t>
            </a:r>
            <a:r>
              <a:rPr lang="pt-PT" dirty="0"/>
              <a:t> - </a:t>
            </a:r>
            <a:r>
              <a:rPr lang="pt-PT" dirty="0" err="1"/>
              <a:t>Modeling</a:t>
            </a:r>
            <a:endParaRPr dirty="0"/>
          </a:p>
        </p:txBody>
      </p:sp>
      <p:sp>
        <p:nvSpPr>
          <p:cNvPr id="209" name="Google Shape;209;p31"/>
          <p:cNvSpPr txBox="1">
            <a:spLocks noGrp="1"/>
          </p:cNvSpPr>
          <p:nvPr>
            <p:ph type="body" idx="1"/>
          </p:nvPr>
        </p:nvSpPr>
        <p:spPr>
          <a:xfrm>
            <a:off x="935549" y="1790375"/>
            <a:ext cx="6015319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Com base no que já foi dito anteriormente, para este dataset implementamos apenas três estratégias de modelação, sendo elas: particionamento, validação cruzada, redes neuronais. De frisar, que analisamos o relatório, e esquecemos de as por nas técnicas de validação, apesar de as termos enunciado como modelos testados.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>
            <a:spLocks noGrp="1"/>
          </p:cNvSpPr>
          <p:nvPr>
            <p:ph type="title"/>
          </p:nvPr>
        </p:nvSpPr>
        <p:spPr>
          <a:xfrm>
            <a:off x="727650" y="5774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Energy</a:t>
            </a:r>
            <a:r>
              <a:rPr lang="pt-PT" dirty="0"/>
              <a:t> </a:t>
            </a:r>
            <a:r>
              <a:rPr lang="pt-PT" dirty="0" err="1"/>
              <a:t>Workflow</a:t>
            </a:r>
            <a:r>
              <a:rPr lang="pt-PT" dirty="0"/>
              <a:t> - </a:t>
            </a:r>
            <a:r>
              <a:rPr lang="pt-PT" dirty="0" err="1"/>
              <a:t>Modeling</a:t>
            </a:r>
            <a:endParaRPr dirty="0"/>
          </a:p>
        </p:txBody>
      </p:sp>
      <p:sp>
        <p:nvSpPr>
          <p:cNvPr id="216" name="Google Shape;216;p32"/>
          <p:cNvSpPr txBox="1">
            <a:spLocks noGrp="1"/>
          </p:cNvSpPr>
          <p:nvPr>
            <p:ph type="body" idx="1"/>
          </p:nvPr>
        </p:nvSpPr>
        <p:spPr>
          <a:xfrm>
            <a:off x="1098300" y="1482275"/>
            <a:ext cx="3233400" cy="32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 err="1"/>
              <a:t>Partitioning</a:t>
            </a:r>
            <a:r>
              <a:rPr lang="pt-PT" b="1" dirty="0"/>
              <a:t> e Cross </a:t>
            </a:r>
            <a:r>
              <a:rPr lang="pt-PT" b="1" dirty="0" err="1"/>
              <a:t>Validation</a:t>
            </a:r>
            <a:endParaRPr b="1" dirty="0"/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 dirty="0"/>
              <a:t>Linear </a:t>
            </a:r>
            <a:r>
              <a:rPr lang="pt-PT" dirty="0" err="1"/>
              <a:t>Regression</a:t>
            </a:r>
            <a:endParaRPr lang="pt-PT" dirty="0"/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Simple</a:t>
            </a:r>
            <a:r>
              <a:rPr lang="pt-PT" dirty="0"/>
              <a:t> </a:t>
            </a:r>
            <a:r>
              <a:rPr lang="pt-PT" dirty="0" err="1"/>
              <a:t>Regression</a:t>
            </a:r>
            <a:endParaRPr lang="pt-PT" dirty="0"/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Tree</a:t>
            </a:r>
            <a:r>
              <a:rPr lang="pt-PT" dirty="0"/>
              <a:t> Ensemble</a:t>
            </a: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Polynomial</a:t>
            </a:r>
            <a:r>
              <a:rPr lang="pt-PT" dirty="0"/>
              <a:t> </a:t>
            </a:r>
            <a:r>
              <a:rPr lang="pt-PT" dirty="0" err="1"/>
              <a:t>Regression</a:t>
            </a:r>
            <a:endParaRPr lang="pt-PT" dirty="0"/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Random</a:t>
            </a:r>
            <a:r>
              <a:rPr lang="pt-PT" dirty="0"/>
              <a:t> </a:t>
            </a:r>
            <a:r>
              <a:rPr lang="pt-PT" dirty="0" err="1"/>
              <a:t>Forest</a:t>
            </a:r>
            <a:r>
              <a:rPr lang="pt-PT" dirty="0"/>
              <a:t> </a:t>
            </a:r>
            <a:r>
              <a:rPr lang="pt-PT" dirty="0" err="1"/>
              <a:t>Regression</a:t>
            </a:r>
            <a:endParaRPr lang="pt-PT" dirty="0"/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Gradient</a:t>
            </a:r>
            <a:r>
              <a:rPr lang="pt-PT" dirty="0"/>
              <a:t> </a:t>
            </a:r>
            <a:r>
              <a:rPr lang="pt-PT" dirty="0" err="1"/>
              <a:t>Boosted</a:t>
            </a:r>
            <a:r>
              <a:rPr lang="pt-PT" dirty="0"/>
              <a:t> </a:t>
            </a:r>
            <a:r>
              <a:rPr lang="pt-PT" dirty="0" err="1"/>
              <a:t>Trees</a:t>
            </a:r>
            <a:r>
              <a:rPr lang="pt-PT" dirty="0"/>
              <a:t> </a:t>
            </a:r>
            <a:r>
              <a:rPr lang="pt-PT" dirty="0" err="1"/>
              <a:t>Regression</a:t>
            </a:r>
            <a:endParaRPr lang="pt-PT" dirty="0"/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XGBoost</a:t>
            </a:r>
            <a:endParaRPr lang="pt-PT" dirty="0"/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XGBoost</a:t>
            </a:r>
            <a:r>
              <a:rPr lang="pt-PT" dirty="0"/>
              <a:t> </a:t>
            </a:r>
            <a:r>
              <a:rPr lang="pt-PT" dirty="0" err="1"/>
              <a:t>Tree</a:t>
            </a:r>
            <a:endParaRPr dirty="0"/>
          </a:p>
        </p:txBody>
      </p:sp>
      <p:cxnSp>
        <p:nvCxnSpPr>
          <p:cNvPr id="217" name="Google Shape;217;p32"/>
          <p:cNvCxnSpPr/>
          <p:nvPr/>
        </p:nvCxnSpPr>
        <p:spPr>
          <a:xfrm>
            <a:off x="4852775" y="1512875"/>
            <a:ext cx="6600" cy="3161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" name="Google Shape;218;p32"/>
          <p:cNvSpPr txBox="1">
            <a:spLocks noGrp="1"/>
          </p:cNvSpPr>
          <p:nvPr>
            <p:ph type="body" idx="1"/>
          </p:nvPr>
        </p:nvSpPr>
        <p:spPr>
          <a:xfrm>
            <a:off x="5695163" y="1482275"/>
            <a:ext cx="1925700" cy="32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/>
              <a:t>Redes Neuronais </a:t>
            </a:r>
            <a:endParaRPr b="1" dirty="0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Rprop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dirty="0" err="1"/>
              <a:t>Keras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>
            <a:spLocks noGrp="1"/>
          </p:cNvSpPr>
          <p:nvPr>
            <p:ph type="title"/>
          </p:nvPr>
        </p:nvSpPr>
        <p:spPr>
          <a:xfrm>
            <a:off x="727650" y="5554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Energy</a:t>
            </a:r>
            <a:r>
              <a:rPr lang="pt-PT" dirty="0"/>
              <a:t> </a:t>
            </a:r>
            <a:r>
              <a:rPr lang="pt-PT" dirty="0" err="1"/>
              <a:t>Workflow</a:t>
            </a:r>
            <a:r>
              <a:rPr lang="pt-PT" dirty="0"/>
              <a:t> - </a:t>
            </a:r>
            <a:r>
              <a:rPr lang="pt-PT" dirty="0" err="1"/>
              <a:t>Evaluation</a:t>
            </a:r>
            <a:endParaRPr dirty="0"/>
          </a:p>
        </p:txBody>
      </p:sp>
      <p:sp>
        <p:nvSpPr>
          <p:cNvPr id="224" name="Google Shape;224;p33"/>
          <p:cNvSpPr txBox="1">
            <a:spLocks noGrp="1"/>
          </p:cNvSpPr>
          <p:nvPr>
            <p:ph type="body" idx="1"/>
          </p:nvPr>
        </p:nvSpPr>
        <p:spPr>
          <a:xfrm>
            <a:off x="729450" y="1425600"/>
            <a:ext cx="7688700" cy="29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Após a fase de modelação, foi realizamos  uma análise ao desempenho dos modelos desenvolvidos, com o objetivo de identificar as soluções mais pertinentes para a previsão da target.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pt-PT" dirty="0"/>
            </a:br>
            <a:r>
              <a:rPr lang="pt-PT" dirty="0"/>
              <a:t>Com base nos testes realizados ao longo das várias abordagens de modelação (</a:t>
            </a:r>
            <a:r>
              <a:rPr lang="pt-PT" dirty="0" err="1"/>
              <a:t>partitioning</a:t>
            </a:r>
            <a:r>
              <a:rPr lang="pt-PT" dirty="0"/>
              <a:t>, cross-</a:t>
            </a:r>
            <a:r>
              <a:rPr lang="pt-PT" dirty="0" err="1"/>
              <a:t>validation</a:t>
            </a:r>
            <a:r>
              <a:rPr lang="pt-PT" dirty="0"/>
              <a:t>, etc.), destacaram-se os três modelos com melhor desempenho global:</a:t>
            </a:r>
            <a:br>
              <a:rPr lang="pt-PT" dirty="0"/>
            </a:br>
            <a:r>
              <a:rPr lang="pt-PT" dirty="0"/>
              <a:t>- </a:t>
            </a:r>
            <a:r>
              <a:rPr lang="pt-PT" dirty="0" err="1"/>
              <a:t>Gradient</a:t>
            </a:r>
            <a:r>
              <a:rPr lang="pt-PT" dirty="0"/>
              <a:t> </a:t>
            </a:r>
            <a:r>
              <a:rPr lang="pt-PT" dirty="0" err="1"/>
              <a:t>Boosted</a:t>
            </a:r>
            <a:r>
              <a:rPr lang="pt-PT" dirty="0"/>
              <a:t> </a:t>
            </a:r>
            <a:r>
              <a:rPr lang="pt-PT" dirty="0" err="1"/>
              <a:t>Trees</a:t>
            </a:r>
            <a:br>
              <a:rPr lang="pt-PT" dirty="0"/>
            </a:br>
            <a:r>
              <a:rPr lang="pt-PT" dirty="0"/>
              <a:t>- </a:t>
            </a:r>
            <a:r>
              <a:rPr lang="pt-PT" dirty="0" err="1"/>
              <a:t>Random</a:t>
            </a:r>
            <a:r>
              <a:rPr lang="pt-PT" dirty="0"/>
              <a:t> </a:t>
            </a:r>
            <a:r>
              <a:rPr lang="pt-PT" dirty="0" err="1"/>
              <a:t>Forest</a:t>
            </a:r>
            <a:br>
              <a:rPr lang="pt-PT" dirty="0"/>
            </a:br>
            <a:r>
              <a:rPr lang="pt-PT" dirty="0"/>
              <a:t>- </a:t>
            </a:r>
            <a:r>
              <a:rPr lang="pt-PT" dirty="0" err="1"/>
              <a:t>Polynomial</a:t>
            </a:r>
            <a:r>
              <a:rPr lang="pt-PT" dirty="0"/>
              <a:t> </a:t>
            </a:r>
            <a:r>
              <a:rPr lang="pt-PT" dirty="0" err="1"/>
              <a:t>Regression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>
            <a:spLocks noGrp="1"/>
          </p:cNvSpPr>
          <p:nvPr>
            <p:ph type="title"/>
          </p:nvPr>
        </p:nvSpPr>
        <p:spPr>
          <a:xfrm>
            <a:off x="727650" y="5554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Energy</a:t>
            </a:r>
            <a:r>
              <a:rPr lang="pt-PT" dirty="0"/>
              <a:t> </a:t>
            </a:r>
            <a:r>
              <a:rPr lang="pt-PT" dirty="0" err="1"/>
              <a:t>Workflow</a:t>
            </a:r>
            <a:r>
              <a:rPr lang="pt-PT" dirty="0"/>
              <a:t> - </a:t>
            </a:r>
            <a:r>
              <a:rPr lang="pt-PT" dirty="0" err="1"/>
              <a:t>Evaluation</a:t>
            </a:r>
            <a:endParaRPr dirty="0"/>
          </a:p>
        </p:txBody>
      </p:sp>
      <p:sp>
        <p:nvSpPr>
          <p:cNvPr id="230" name="Google Shape;230;p34"/>
          <p:cNvSpPr txBox="1">
            <a:spLocks noGrp="1"/>
          </p:cNvSpPr>
          <p:nvPr>
            <p:ph type="body" idx="1"/>
          </p:nvPr>
        </p:nvSpPr>
        <p:spPr>
          <a:xfrm>
            <a:off x="729450" y="1425600"/>
            <a:ext cx="7688700" cy="29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PT" dirty="0"/>
              <a:t>Com base nos experimentos realizados, o foco principal deste trabalho foi a aplicação prática dos nós e conceitos explorados ao longo do semestre, abordando diferentes etapas de pré-processamento, validação e modelação. Embora o objetivo fosse também alcançar </a:t>
            </a:r>
            <a:r>
              <a:rPr lang="pt-PT" b="1" dirty="0"/>
              <a:t>valores mais elevados de R²</a:t>
            </a:r>
            <a:r>
              <a:rPr lang="pt-PT" dirty="0"/>
              <a:t>, os resultados ficaram aquém do esperado. Ainda assim, priorizámos a consolidação do aprendizado, testando todos os métodos abordados na unidade curricular e explorando suas aplicações no contexto do consumo energético.</a:t>
            </a:r>
          </a:p>
          <a:p>
            <a:r>
              <a:rPr lang="pt-PT" dirty="0"/>
              <a:t>Os modelos foram utilizados para prever a variável </a:t>
            </a:r>
            <a:r>
              <a:rPr lang="pt-PT" b="1" dirty="0" err="1"/>
              <a:t>EnergyConsumption</a:t>
            </a:r>
            <a:r>
              <a:rPr lang="pt-PT" dirty="0"/>
              <a:t> (regressão). O </a:t>
            </a:r>
            <a:r>
              <a:rPr lang="pt-PT" b="1" dirty="0" err="1"/>
              <a:t>Gradient</a:t>
            </a:r>
            <a:r>
              <a:rPr lang="pt-PT" b="1" dirty="0"/>
              <a:t> </a:t>
            </a:r>
            <a:r>
              <a:rPr lang="pt-PT" b="1" dirty="0" err="1"/>
              <a:t>Boosted</a:t>
            </a:r>
            <a:r>
              <a:rPr lang="pt-PT" b="1" dirty="0"/>
              <a:t> </a:t>
            </a:r>
            <a:r>
              <a:rPr lang="pt-PT" b="1" dirty="0" err="1"/>
              <a:t>Trees</a:t>
            </a:r>
            <a:r>
              <a:rPr lang="pt-PT" dirty="0"/>
              <a:t> (profundidade = 2) obteve o melhor resultado com </a:t>
            </a:r>
            <a:r>
              <a:rPr lang="pt-PT" b="1" dirty="0"/>
              <a:t>R² = 0.560</a:t>
            </a:r>
            <a:r>
              <a:rPr lang="pt-PT" dirty="0"/>
              <a:t>, destacando-se pela capacidade de captar padrões relevantes.  Quanto ao restante top3 temos o </a:t>
            </a:r>
            <a:r>
              <a:rPr lang="pt-PT" b="1" dirty="0" err="1"/>
              <a:t>Random</a:t>
            </a:r>
            <a:r>
              <a:rPr lang="pt-PT" b="1" dirty="0"/>
              <a:t> </a:t>
            </a:r>
            <a:r>
              <a:rPr lang="pt-PT" b="1" dirty="0" err="1"/>
              <a:t>Forest</a:t>
            </a:r>
            <a:r>
              <a:rPr lang="pt-PT" dirty="0"/>
              <a:t> (R² = 0.504, profundidade = 18) e em terceiro o </a:t>
            </a:r>
            <a:r>
              <a:rPr lang="pt-PT" b="1" dirty="0" err="1"/>
              <a:t>Polynomial</a:t>
            </a:r>
            <a:r>
              <a:rPr lang="pt-PT" b="1" dirty="0"/>
              <a:t> </a:t>
            </a:r>
            <a:r>
              <a:rPr lang="pt-PT" b="1" dirty="0" err="1"/>
              <a:t>Regression</a:t>
            </a:r>
            <a:r>
              <a:rPr lang="pt-PT" dirty="0"/>
              <a:t> (R² = 0.539, grau máximo = 3).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>
            <a:spLocks noGrp="1"/>
          </p:cNvSpPr>
          <p:nvPr>
            <p:ph type="title"/>
          </p:nvPr>
        </p:nvSpPr>
        <p:spPr>
          <a:xfrm>
            <a:off x="729450" y="5774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Conclusão</a:t>
            </a:r>
            <a:endParaRPr/>
          </a:p>
        </p:txBody>
      </p:sp>
      <p:sp>
        <p:nvSpPr>
          <p:cNvPr id="236" name="Google Shape;236;p35"/>
          <p:cNvSpPr txBox="1">
            <a:spLocks noGrp="1"/>
          </p:cNvSpPr>
          <p:nvPr>
            <p:ph type="body" idx="1"/>
          </p:nvPr>
        </p:nvSpPr>
        <p:spPr>
          <a:xfrm>
            <a:off x="729450" y="15093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PT" dirty="0"/>
              <a:t>Enquanto grupo, consideramos que este projeto foi essencial para o desenvolvimento de competências práticas na criação e otimização de modelos de </a:t>
            </a:r>
            <a:r>
              <a:rPr lang="pt-PT" i="1" dirty="0"/>
              <a:t>machine learning</a:t>
            </a:r>
            <a:r>
              <a:rPr lang="pt-PT" dirty="0"/>
              <a:t>, recorrendo à plataforma KNIME. A execução das duas tarefas — uma baseada num dataset atribuído e outra num dataset escolhido por nós — permitiu uma análise aprofundada dos dados, a aplicação de diversas técnicas de preparação e a implementação de modelos de regressão e classificação. Todo o percurso, apoiado por um relatório bem estruturado, evidenciou a nossa capacidade de interpretar resultados, gerar conhecimento relevante e propor soluções que podem ser replicadas em contextos semelhantes.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1826</Words>
  <Application>Microsoft Office PowerPoint</Application>
  <PresentationFormat>Apresentação no Ecrã (16:9)</PresentationFormat>
  <Paragraphs>122</Paragraphs>
  <Slides>24</Slides>
  <Notes>22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24</vt:i4>
      </vt:variant>
    </vt:vector>
  </HeadingPairs>
  <TitlesOfParts>
    <vt:vector size="28" baseType="lpstr">
      <vt:lpstr>Raleway</vt:lpstr>
      <vt:lpstr>Lato</vt:lpstr>
      <vt:lpstr>Arial</vt:lpstr>
      <vt:lpstr>Streamline</vt:lpstr>
      <vt:lpstr>Aprendizagem e Decisões Inteligentes - 2024/2025</vt:lpstr>
      <vt:lpstr>Metodologia</vt:lpstr>
      <vt:lpstr>Dataset Atribuído - Loan Workflow </vt:lpstr>
      <vt:lpstr>Loan Workflow - Business Understanding</vt:lpstr>
      <vt:lpstr>Loan Workflow - Data Understanding</vt:lpstr>
      <vt:lpstr>Loan Workflow - Data Understanding</vt:lpstr>
      <vt:lpstr>Loan Workflow - Data Understanding</vt:lpstr>
      <vt:lpstr>Loan Workflow - Data Preparation</vt:lpstr>
      <vt:lpstr>Loan Workflow - Data Preparation</vt:lpstr>
      <vt:lpstr>Loan Workflow - Data Preparation</vt:lpstr>
      <vt:lpstr>Loan Workflow - Data Preparation</vt:lpstr>
      <vt:lpstr>Loan Workflow - Data Preparation</vt:lpstr>
      <vt:lpstr>Loan Workflow - Modeling</vt:lpstr>
      <vt:lpstr>Loan Workflow - Modeling</vt:lpstr>
      <vt:lpstr>Loan Workflow - Evaluation</vt:lpstr>
      <vt:lpstr>Dataset Escolhido – Energy Consumption </vt:lpstr>
      <vt:lpstr>Energy Workflow - Business Understanding</vt:lpstr>
      <vt:lpstr>Energy Workflow - Data Understanding</vt:lpstr>
      <vt:lpstr>Energy Workflow - Data Preparation</vt:lpstr>
      <vt:lpstr>Energy Workflow - Modeling</vt:lpstr>
      <vt:lpstr>Energy Workflow - Modeling</vt:lpstr>
      <vt:lpstr>Energy Workflow - Evaluation</vt:lpstr>
      <vt:lpstr>Energy Workflow - Evaluation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e Decisões Inteligentes - 2024/2025</dc:title>
  <dc:creator>Utilizador</dc:creator>
  <cp:lastModifiedBy>Rui Gonçalves Dantas</cp:lastModifiedBy>
  <cp:revision>1</cp:revision>
  <dcterms:modified xsi:type="dcterms:W3CDTF">2025-06-05T09:53:12Z</dcterms:modified>
</cp:coreProperties>
</file>